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585E51-CDE8-4C5D-AC77-04FB9E9E090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71D7C-8D91-41B8-826E-B0B59D993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1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71D7C-8D91-41B8-826E-B0B59D9936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8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6765-60C5-4726-8727-B36853F41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451D8-3B75-47BC-8070-320826648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576EC-6A4B-480D-B642-59C9A182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A521B-4BFC-42D3-B161-DA04C5B6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723A0-93D6-44C6-A4D7-ED9EA9E0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6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1843-718D-4C6D-9B02-438143132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244B9-5585-4B7E-B9A5-F3DBE1592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DD042-70C3-43ED-A541-D66021FA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61A46-E751-404B-A1CE-531086C3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099B8-F91A-4C58-9A84-93B46CC6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A821-6497-4B1C-93AB-51A04B8D9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DA380-3F03-4DE7-80AD-821FFB2F4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DA0DA-3CB7-4BE4-A548-8E499183E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2F4A6-9081-4718-9994-AC710540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C9CA6-6E04-414B-9975-0482F6E6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17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A4F8-B738-4395-BFD2-C9CA91CE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6D003-E618-4E0F-B9C4-29734C3A9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7F963-76CE-4D20-833A-47CA0ACEA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36DED-F62D-4533-BF13-325E46D4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2B858-9DCF-4740-B339-3801048D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9E9FA-7EC1-49C7-89B2-569EF0C4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5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AE67-B67F-49CD-AF95-0DDFF976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D4404-40FB-4736-B70A-BB02F462E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4B44B-AD6C-4DE1-BE76-68DFDFA91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EE157-0127-4ED7-B35E-F1F85ED44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7FC62-DDA2-43EE-A2D0-1A1CDA8EE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90BAF-6E94-486D-97F9-68CE449E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F56DAB-0D9B-4E0E-8340-ABED441E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AED79-A4A4-4B3E-BE5B-2A67923E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F98F-87DB-4CAD-961D-321C0188D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17419-7ECD-4C87-A6E5-AA5287D0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EA22B-4B02-4E7D-AC23-1E8219CB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44945-F1E8-4735-A79E-3FD4CF87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1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8CA83-1E44-4C10-9855-1D9BDF03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245CC-487A-4156-B355-0BEDDC45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10BA1-E715-4C53-940A-BE00A1A69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9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899A-64CA-4E47-B8BE-C6D3181DA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4CCC2-D56A-401C-A889-CF67E9C55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C92A-54CB-44DA-93DC-0579E140B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1D390-88FD-4B45-8A94-0C0B29F0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593DD-2203-4A51-A4EF-429A67B4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A8E7A-AC92-4981-BD38-EE9731B5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6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7D48-7D8E-40ED-856D-4C9A5CE5D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38D132-19E7-47A6-AF7D-C07ED0E8A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75DBB-EC48-4E39-ACDE-CFB52EAF7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7647F-06F2-41CD-9935-40E985D2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B5C4-842F-47E9-93CB-1B9D5C94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6BAEC-010C-4336-8651-0A0E106D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4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221F-838E-4AD7-8891-467A4165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CABAB-8A8A-4317-9648-EFFA2672C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9B779-7A1B-43D1-B4BE-CE7E2C9EF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F102E-E183-4C7A-8119-00BAFBBA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08214-0ABD-4E99-8A2E-2C6D007C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82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F9A95-8A42-439D-B67D-941B64F4C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6DF25-777B-460B-AEE0-5FE2A3979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C908-0267-4BFF-9B60-E9EB1C12D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35CAB-D2AE-43E7-B923-88FA8F30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1043E-E03C-4394-9642-E58BF39E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6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BDD12-F8B1-4FFB-A769-6CD1AC4DC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B1336-6FAE-4C2D-81FF-D3E20CBFC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F2596-6C9C-40B5-B90D-FCA5F6E8A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ADB3C-13A4-4E01-9DC3-5840F3A9F37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04B91-DA14-4C7C-A9CF-FF33D1B0C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63BA2-757F-441D-9C5F-72DD627C5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69B36-0820-4131-BA5A-35A2D03DC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0B70-6A41-416F-A146-55EE0EDAA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Willkommen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Deutschstunde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AAA2D-859D-43C8-A6B6-26F7A15C8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Willkommen zur Deutschstunde!&#10;">
            <a:extLst>
              <a:ext uri="{FF2B5EF4-FFF2-40B4-BE49-F238E27FC236}">
                <a16:creationId xmlns:a16="http://schemas.microsoft.com/office/drawing/2014/main" id="{785344CF-35E5-4073-A6B8-2A77E9A97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B2F968-0638-4089-AB99-F8514A805F75}"/>
              </a:ext>
            </a:extLst>
          </p:cNvPr>
          <p:cNvSpPr txBox="1"/>
          <p:nvPr/>
        </p:nvSpPr>
        <p:spPr>
          <a:xfrm>
            <a:off x="3854548" y="3198167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Willkommen</a:t>
            </a:r>
            <a:r>
              <a:rPr lang="en-US" sz="3200" b="1" dirty="0"/>
              <a:t> </a:t>
            </a:r>
            <a:r>
              <a:rPr lang="en-US" sz="3200" b="1" dirty="0" err="1"/>
              <a:t>zur</a:t>
            </a:r>
            <a:r>
              <a:rPr lang="en-US" sz="3200" b="1" dirty="0"/>
              <a:t> </a:t>
            </a:r>
            <a:r>
              <a:rPr lang="en-US" sz="3200" b="1" dirty="0" err="1"/>
              <a:t>Deutschstunde</a:t>
            </a:r>
            <a:r>
              <a:rPr lang="en-US" sz="32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4466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6B92-596A-47F3-BA90-823D9727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a-GE" sz="4000" b="1" dirty="0">
                <a:latin typeface="Sylfaen" panose="010A0502050306030303" pitchFamily="18" charset="0"/>
              </a:rPr>
              <a:t>გემანული ენა-ცხოვრების ახლებური ხედვა</a:t>
            </a:r>
            <a:endParaRPr lang="en-US" sz="4000" b="1" dirty="0">
              <a:latin typeface="Sylfaen" panose="010A05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5E64E-2193-4F24-9A0E-633456CF0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557"/>
            <a:ext cx="10515600" cy="4351338"/>
          </a:xfrm>
        </p:spPr>
        <p:txBody>
          <a:bodyPr/>
          <a:lstStyle/>
          <a:p>
            <a:r>
              <a:rPr lang="de-DE" dirty="0"/>
              <a:t>Warum sind wir an der deutschen Sprache interessiert?</a:t>
            </a:r>
            <a:r>
              <a:rPr lang="ka-GE" dirty="0"/>
              <a:t>-რატომ ვართ გერმანულით დაინტერესებული?</a:t>
            </a:r>
          </a:p>
          <a:p>
            <a:r>
              <a:rPr lang="de-DE" dirty="0"/>
              <a:t>Was wissen wir über Deutschland oder über die deutsche Sprache?</a:t>
            </a:r>
            <a:r>
              <a:rPr lang="ka-GE" dirty="0"/>
              <a:t>-რა ვიცით გერმანიაზე ან გერმანული ენის შესახებ?</a:t>
            </a:r>
          </a:p>
          <a:p>
            <a:r>
              <a:rPr lang="de-DE" dirty="0"/>
              <a:t>Welche Möglichkeiten bietet mir das Erlernen der deutschen Sprache?</a:t>
            </a:r>
            <a:r>
              <a:rPr lang="ka-GE" dirty="0"/>
              <a:t>-რა შესაძლებლობებს მომცემს გერმანული ენის შესწავლა?</a:t>
            </a:r>
          </a:p>
          <a:p>
            <a:r>
              <a:rPr lang="de-DE" dirty="0"/>
              <a:t>Wofür werde ich die deutsche Sprache nutzen?</a:t>
            </a:r>
            <a:r>
              <a:rPr lang="ka-GE" dirty="0"/>
              <a:t>-რისთვის გამოვიყენებ გერმანულ ენას?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991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7212B-E18F-4222-81D7-AD25D4586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a-GE" sz="4000" dirty="0">
                <a:latin typeface="Sylfaen" panose="010A0502050306030303" pitchFamily="18" charset="0"/>
              </a:rPr>
              <a:t>გერმანია</a:t>
            </a:r>
            <a:br>
              <a:rPr lang="ka-GE" sz="4000" dirty="0">
                <a:latin typeface="Sylfaen" panose="010A0502050306030303" pitchFamily="18" charset="0"/>
              </a:rPr>
            </a:br>
            <a:r>
              <a:rPr lang="ka-GE" sz="4000" dirty="0">
                <a:latin typeface="Sylfaen" panose="010A0502050306030303" pitchFamily="18" charset="0"/>
              </a:rPr>
              <a:t>(მეზობლები, ისტორია)</a:t>
            </a:r>
            <a:endParaRPr lang="en-US" sz="4000" dirty="0">
              <a:latin typeface="Sylfaen" panose="010A050205030603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FA3DD9-2530-4979-8AFE-40E532547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55" y="1818550"/>
            <a:ext cx="3429479" cy="424462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F7124D-851B-4260-BF63-619E8E3804E2}"/>
              </a:ext>
            </a:extLst>
          </p:cNvPr>
          <p:cNvSpPr txBox="1"/>
          <p:nvPr/>
        </p:nvSpPr>
        <p:spPr>
          <a:xfrm>
            <a:off x="3742006" y="1818550"/>
            <a:ext cx="82468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/>
              <a:t>გერმანიის ტერიტორია ძველად სხვადასხვა გერმანული ტომებით იყო დასახლებული. შუა საუკუნეებში შეიქმნა </a:t>
            </a:r>
            <a:r>
              <a:rPr lang="ka-GE" b="1" dirty="0"/>
              <a:t>წმინდა რომის იმპერია</a:t>
            </a:r>
            <a:r>
              <a:rPr lang="ka-GE" dirty="0"/>
              <a:t>, რომელიც არ იყო ერთიანი სახელმწიფო, არამედ მრავალი სამთავროსა და ქალაქის გაერთიანება.</a:t>
            </a:r>
          </a:p>
          <a:p>
            <a:r>
              <a:rPr lang="ka-GE" dirty="0"/>
              <a:t>მე-19 საუკუნეში გერმანია საბოლოოდ </a:t>
            </a:r>
            <a:r>
              <a:rPr lang="ka-GE" b="1" dirty="0"/>
              <a:t>1871 წელს გაერთიანდა</a:t>
            </a:r>
            <a:r>
              <a:rPr lang="ka-GE" dirty="0"/>
              <a:t> ოტო ფონ ბისმარკის ხელმძღვანელობით და შეიქმნა გერმანიის იმპერია. ამ პერიოდიდან ქვეყანა სწრაფად განვითარდა ეკონომიკურად და სამხედრო თვალსაზრისით.</a:t>
            </a:r>
          </a:p>
          <a:p>
            <a:r>
              <a:rPr lang="ka-GE" dirty="0"/>
              <a:t>მე-20 საუკუნეში გერმანიამ მნიშვნელოვანი როლი ითამაშა </a:t>
            </a:r>
            <a:r>
              <a:rPr lang="ka-GE" b="1" dirty="0"/>
              <a:t>პირველ და მეორე მსოფლიო ომებში</a:t>
            </a:r>
            <a:r>
              <a:rPr lang="ka-GE" dirty="0"/>
              <a:t>. მეორე მსოფლიო ომის დროს ნაცისტური რეჟიმის (ადოლფ ჰიტლერის ხელმძღვანელობით) დანაშაულებმა უდიდესი ტრაგედია მოუტანა როგორც გერმანიას, ისე მთელ მსოფლიოს.</a:t>
            </a:r>
          </a:p>
          <a:p>
            <a:r>
              <a:rPr lang="ka-GE" dirty="0"/>
              <a:t>ომის შემდეგ გერმანია </a:t>
            </a:r>
            <a:r>
              <a:rPr lang="ka-GE" b="1" dirty="0"/>
              <a:t>ორი ნაწილად გაიყო</a:t>
            </a:r>
            <a:r>
              <a:rPr lang="ka-GE" dirty="0"/>
              <a:t>: დასავლეთ გერმანიად და აღმოსავლეთ გერმანიად. ეს გაყოფა ცივი ომის სიმბოლო იყო. </a:t>
            </a:r>
            <a:r>
              <a:rPr lang="ka-GE" b="1" dirty="0"/>
              <a:t>1990 წელს</a:t>
            </a:r>
            <a:r>
              <a:rPr lang="ka-GE" dirty="0"/>
              <a:t> ორი გერმანია კვლავ გაერთიანდა.</a:t>
            </a:r>
          </a:p>
          <a:p>
            <a:r>
              <a:rPr lang="ka-GE" dirty="0"/>
              <a:t>დღეს გერმანია არის </a:t>
            </a:r>
            <a:r>
              <a:rPr lang="ka-GE" b="1" dirty="0"/>
              <a:t>დემოკრატიული, ძლიერი ეკონომიკის მქონე ქვეყანა</a:t>
            </a:r>
            <a:r>
              <a:rPr lang="ka-GE" dirty="0"/>
              <a:t>, ევროკავშირის ერთ-ერთი წამყვანი წევრი და მნიშვნელოვან როლს ასრულებს ევროპასა და მსოფლიოში.</a:t>
            </a:r>
          </a:p>
        </p:txBody>
      </p:sp>
    </p:spTree>
    <p:extLst>
      <p:ext uri="{BB962C8B-B14F-4D97-AF65-F5344CB8AC3E}">
        <p14:creationId xmlns:p14="http://schemas.microsoft.com/office/powerpoint/2010/main" val="225415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A98ED-8A1C-451F-8A26-33583FCFC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4" y="780131"/>
            <a:ext cx="4867954" cy="47631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F67E8-B104-47F7-8B61-BF9B463D9C8A}"/>
              </a:ext>
            </a:extLst>
          </p:cNvPr>
          <p:cNvSpPr txBox="1"/>
          <p:nvPr/>
        </p:nvSpPr>
        <p:spPr>
          <a:xfrm>
            <a:off x="5106572" y="1038054"/>
            <a:ext cx="69684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b="1" dirty="0"/>
              <a:t>ავსტრია</a:t>
            </a:r>
            <a:r>
              <a:rPr lang="ka-GE" dirty="0"/>
              <a:t> არის გერმანიის მეზობელი ქვეყანა ცენტრალურ ევროპაში. მისი ოფიციალური ენაა </a:t>
            </a:r>
            <a:r>
              <a:rPr lang="ka-GE" b="1" dirty="0"/>
              <a:t>გერმანული</a:t>
            </a:r>
            <a:r>
              <a:rPr lang="ka-GE" dirty="0"/>
              <a:t>, თუმცა ავსტრიული აქცენტითა და დიალექტებით. ავსტრია ცნობილია თავისი მდიდარი კულტურით, კლასიკური მუსიკით (მოცარტი, შუბერტი), ალპების მთებითა და ვენით — ქვეყნის დედაქალაქით. ავსტრია ნეიტრალური ქვეყანაა და ევროკავშირის წევრია.</a:t>
            </a:r>
          </a:p>
          <a:p>
            <a:r>
              <a:rPr lang="ka-GE" b="1" dirty="0"/>
              <a:t>შვეიცარია</a:t>
            </a:r>
            <a:r>
              <a:rPr lang="ka-GE" dirty="0"/>
              <a:t> ასევე გერმანიის მეზობელია და გამოირჩევა მრავალენოვნებით. აქ ოთხი ოფიციალური ენაა: </a:t>
            </a:r>
            <a:r>
              <a:rPr lang="ka-GE" b="1" dirty="0"/>
              <a:t>გერმანული, ფრანგული, იტალიური და რეტორომანული</a:t>
            </a:r>
            <a:r>
              <a:rPr lang="ka-GE" dirty="0"/>
              <a:t>. გერმანულად მოსაუბრე შვეიცარიელები ხშირად იყენებენ შვეიცარიულ დიალექტს (</a:t>
            </a:r>
            <a:r>
              <a:rPr lang="en-US" dirty="0" err="1"/>
              <a:t>Schweizerdeutsch</a:t>
            </a:r>
            <a:r>
              <a:rPr lang="en-US" dirty="0"/>
              <a:t>). </a:t>
            </a:r>
            <a:r>
              <a:rPr lang="ka-GE" dirty="0"/>
              <a:t>შვეიცარია ცნობილია ნეიტრალიტეტით, მაღალი ცხოვრების დონით, ბანკებით, საათებითა და შოკოლადით. იგი არ არის ევროკავშირის წევრი, თუმცა მჭიდროდ თანამშრომლობს მასთან.</a:t>
            </a:r>
          </a:p>
        </p:txBody>
      </p:sp>
    </p:spTree>
    <p:extLst>
      <p:ext uri="{BB962C8B-B14F-4D97-AF65-F5344CB8AC3E}">
        <p14:creationId xmlns:p14="http://schemas.microsoft.com/office/powerpoint/2010/main" val="189450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A40EB-D9CF-4EF8-BD5A-02FFD91A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3" y="989012"/>
            <a:ext cx="3932237" cy="1104314"/>
          </a:xfrm>
        </p:spPr>
        <p:txBody>
          <a:bodyPr>
            <a:normAutofit fontScale="90000"/>
          </a:bodyPr>
          <a:lstStyle/>
          <a:p>
            <a:pPr algn="ctr"/>
            <a:r>
              <a:rPr lang="ka-GE" sz="3600" dirty="0"/>
              <a:t>სახელმძღვანელო</a:t>
            </a:r>
            <a:br>
              <a:rPr lang="ka-GE" sz="3600" dirty="0"/>
            </a:br>
            <a:br>
              <a:rPr lang="ka-GE" sz="3600" dirty="0"/>
            </a:br>
            <a:r>
              <a:rPr lang="ka-GE" sz="3600" dirty="0"/>
              <a:t>გეგმა:</a:t>
            </a:r>
            <a:br>
              <a:rPr lang="ka-GE" sz="3600" dirty="0"/>
            </a:br>
            <a:endParaRPr lang="en-US" sz="36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53EF922-A129-490E-8CD9-34FE3441031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566"/>
            <a:ext cx="5395717" cy="645686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930AC-4225-4D35-9BEB-1C75A7424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sz="3600" dirty="0"/>
              <a:t>გაცნობა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sz="3600" dirty="0"/>
              <a:t>წერა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sz="3600" dirty="0"/>
              <a:t>კითხვა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sz="3600" dirty="0"/>
              <a:t>მოსმენა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sz="3600" dirty="0"/>
              <a:t>ლაპარაკი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865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A52D0-4F4D-4B29-ADE0-5D4A48F9C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188" y="-495422"/>
            <a:ext cx="9144000" cy="2387600"/>
          </a:xfrm>
        </p:spPr>
        <p:txBody>
          <a:bodyPr/>
          <a:lstStyle/>
          <a:p>
            <a:r>
              <a:rPr lang="de-DE" dirty="0"/>
              <a:t>Das Alphabet</a:t>
            </a:r>
            <a:br>
              <a:rPr lang="de-DE" dirty="0"/>
            </a:br>
            <a:r>
              <a:rPr lang="ka-GE" dirty="0"/>
              <a:t>ანბანი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399D1-A800-421B-8DC0-0C598D395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1" y="1744393"/>
            <a:ext cx="11732454" cy="4628271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de-DE" sz="5100" dirty="0">
                <a:latin typeface="Sylfaen" panose="010A0502050306030303" pitchFamily="18" charset="0"/>
              </a:rPr>
              <a:t>A a-</a:t>
            </a:r>
            <a:r>
              <a:rPr lang="ka-GE" sz="5100" dirty="0">
                <a:latin typeface="Sylfaen" panose="010A0502050306030303" pitchFamily="18" charset="0"/>
              </a:rPr>
              <a:t>ა</a:t>
            </a:r>
            <a:r>
              <a:rPr lang="de-DE" sz="5100" dirty="0">
                <a:latin typeface="Sylfaen" panose="010A0502050306030303" pitchFamily="18" charset="0"/>
              </a:rPr>
              <a:t>                                                                        </a:t>
            </a: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B b</a:t>
            </a:r>
            <a:r>
              <a:rPr lang="ka-GE" sz="5100" dirty="0">
                <a:latin typeface="Sylfaen" panose="010A0502050306030303" pitchFamily="18" charset="0"/>
              </a:rPr>
              <a:t>-ბე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C c</a:t>
            </a:r>
            <a:r>
              <a:rPr lang="ka-GE" sz="5100" dirty="0">
                <a:latin typeface="Sylfaen" panose="010A0502050306030303" pitchFamily="18" charset="0"/>
              </a:rPr>
              <a:t>-ცე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D d</a:t>
            </a:r>
            <a:r>
              <a:rPr lang="ka-GE" sz="5100" dirty="0">
                <a:latin typeface="Sylfaen" panose="010A0502050306030303" pitchFamily="18" charset="0"/>
              </a:rPr>
              <a:t>-დე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E e</a:t>
            </a:r>
            <a:r>
              <a:rPr lang="ka-GE" sz="5100" dirty="0">
                <a:latin typeface="Sylfaen" panose="010A0502050306030303" pitchFamily="18" charset="0"/>
              </a:rPr>
              <a:t>-ე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F f</a:t>
            </a:r>
            <a:r>
              <a:rPr lang="ka-GE" sz="5100" dirty="0">
                <a:latin typeface="Sylfaen" panose="010A0502050306030303" pitchFamily="18" charset="0"/>
              </a:rPr>
              <a:t>-“ე</a:t>
            </a:r>
            <a:r>
              <a:rPr lang="de-DE" sz="5100" dirty="0">
                <a:latin typeface="Sylfaen" panose="010A0502050306030303" pitchFamily="18" charset="0"/>
              </a:rPr>
              <a:t>f</a:t>
            </a:r>
            <a:r>
              <a:rPr lang="ka-GE" sz="5100" dirty="0">
                <a:latin typeface="Sylfaen" panose="010A0502050306030303" pitchFamily="18" charset="0"/>
              </a:rPr>
              <a:t>“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G g</a:t>
            </a:r>
            <a:r>
              <a:rPr lang="ka-GE" sz="5100" dirty="0">
                <a:latin typeface="Sylfaen" panose="010A0502050306030303" pitchFamily="18" charset="0"/>
              </a:rPr>
              <a:t>-გე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H h</a:t>
            </a:r>
            <a:r>
              <a:rPr lang="ka-GE" sz="5100" dirty="0">
                <a:latin typeface="Sylfaen" panose="010A0502050306030303" pitchFamily="18" charset="0"/>
              </a:rPr>
              <a:t>-ჰა  (სიტყვის დასაწყისში იკითხება, შუაში და ბოლოში-არა)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I i</a:t>
            </a:r>
            <a:r>
              <a:rPr lang="ka-GE" sz="5100" dirty="0">
                <a:latin typeface="Sylfaen" panose="010A0502050306030303" pitchFamily="18" charset="0"/>
              </a:rPr>
              <a:t>-ი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J j</a:t>
            </a:r>
            <a:r>
              <a:rPr lang="ka-GE" sz="5100" dirty="0">
                <a:latin typeface="Sylfaen" panose="010A0502050306030303" pitchFamily="18" charset="0"/>
              </a:rPr>
              <a:t>-იოტ (სიტყვაში იკითხება, როგორც-ი)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K k</a:t>
            </a:r>
            <a:r>
              <a:rPr lang="ka-GE" sz="5100" dirty="0">
                <a:latin typeface="Sylfaen" panose="010A0502050306030303" pitchFamily="18" charset="0"/>
              </a:rPr>
              <a:t>-კა  (კ,ქ)  (უმეტესად გამოთქვამენ,როგორც-ქ)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L l</a:t>
            </a:r>
            <a:r>
              <a:rPr lang="ka-GE" sz="5100" dirty="0">
                <a:latin typeface="Sylfaen" panose="010A0502050306030303" pitchFamily="18" charset="0"/>
              </a:rPr>
              <a:t>-ელ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r>
              <a:rPr lang="de-DE" sz="5100" dirty="0">
                <a:latin typeface="Sylfaen" panose="010A0502050306030303" pitchFamily="18" charset="0"/>
              </a:rPr>
              <a:t>M m</a:t>
            </a:r>
            <a:r>
              <a:rPr lang="ka-GE" sz="5100" dirty="0">
                <a:latin typeface="Sylfaen" panose="010A0502050306030303" pitchFamily="18" charset="0"/>
              </a:rPr>
              <a:t>-ემ</a:t>
            </a:r>
            <a:endParaRPr lang="de-DE" sz="5100" dirty="0">
              <a:latin typeface="Sylfaen" panose="010A0502050306030303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467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A808-EDAE-456E-B598-3DDA57DA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7" y="365125"/>
            <a:ext cx="11816861" cy="4994666"/>
          </a:xfrm>
        </p:spPr>
        <p:txBody>
          <a:bodyPr>
            <a:normAutofit fontScale="90000"/>
          </a:bodyPr>
          <a:lstStyle/>
          <a:p>
            <a:r>
              <a:rPr lang="de-DE" sz="2400" dirty="0">
                <a:latin typeface="Sylfaen" panose="010A0502050306030303" pitchFamily="18" charset="0"/>
              </a:rPr>
              <a:t>N n-</a:t>
            </a:r>
            <a:r>
              <a:rPr lang="ka-GE" sz="2400" dirty="0">
                <a:latin typeface="Sylfaen" panose="010A0502050306030303" pitchFamily="18" charset="0"/>
              </a:rPr>
              <a:t>ენ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O o</a:t>
            </a:r>
            <a:r>
              <a:rPr lang="ka-GE" sz="2400" dirty="0">
                <a:latin typeface="Sylfaen" panose="010A0502050306030303" pitchFamily="18" charset="0"/>
              </a:rPr>
              <a:t>-ო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P p</a:t>
            </a:r>
            <a:r>
              <a:rPr lang="ka-GE" sz="2400" dirty="0">
                <a:latin typeface="Sylfaen" panose="010A0502050306030303" pitchFamily="18" charset="0"/>
              </a:rPr>
              <a:t>-ფე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Q q</a:t>
            </a:r>
            <a:r>
              <a:rPr lang="ka-GE" sz="2400" dirty="0">
                <a:latin typeface="Sylfaen" panose="010A0502050306030303" pitchFamily="18" charset="0"/>
              </a:rPr>
              <a:t>-ქუ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R r</a:t>
            </a:r>
            <a:r>
              <a:rPr lang="ka-GE" sz="2400" dirty="0">
                <a:latin typeface="Sylfaen" panose="010A0502050306030303" pitchFamily="18" charset="0"/>
              </a:rPr>
              <a:t>-ერ (უმეტესად გამოთქვამენ, როგორც-ღ, ასევე იკითხება-რ)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S s</a:t>
            </a:r>
            <a:r>
              <a:rPr lang="ka-GE" sz="2400" dirty="0">
                <a:latin typeface="Sylfaen" panose="010A0502050306030303" pitchFamily="18" charset="0"/>
              </a:rPr>
              <a:t>-ეს  (სიტყვის დასაწყისში გამოითქმის-ზ, შუაში ან ბოლოში-ს. არის გამონაკლისებიც)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T t</a:t>
            </a:r>
            <a:r>
              <a:rPr lang="ka-GE" sz="2400" dirty="0">
                <a:latin typeface="Sylfaen" panose="010A0502050306030303" pitchFamily="18" charset="0"/>
              </a:rPr>
              <a:t>-თე </a:t>
            </a:r>
            <a:r>
              <a:rPr lang="ka-GE" sz="2400" dirty="0"/>
              <a:t>(უმეტესად გამოთქვამენ, როგორც-თ, ასევე იკითხება-ტ)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U u</a:t>
            </a:r>
            <a:r>
              <a:rPr lang="ka-GE" sz="2400" dirty="0">
                <a:latin typeface="Sylfaen" panose="010A0502050306030303" pitchFamily="18" charset="0"/>
              </a:rPr>
              <a:t>-უ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V v-f</a:t>
            </a:r>
            <a:r>
              <a:rPr lang="ka-GE" sz="2400" dirty="0">
                <a:latin typeface="Sylfaen" panose="010A0502050306030303" pitchFamily="18" charset="0"/>
              </a:rPr>
              <a:t>აუ </a:t>
            </a:r>
            <a:r>
              <a:rPr lang="ka-GE" sz="2400" dirty="0"/>
              <a:t>(უმეტესად გამოთქვამენ, როგორც-</a:t>
            </a:r>
            <a:r>
              <a:rPr lang="de-DE" sz="2400" dirty="0">
                <a:latin typeface="Sylfaen" panose="010A0502050306030303" pitchFamily="18" charset="0"/>
              </a:rPr>
              <a:t>f</a:t>
            </a:r>
            <a:r>
              <a:rPr lang="ka-GE" sz="2400" dirty="0"/>
              <a:t>, ასევე იკითხება-ვ)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W w</a:t>
            </a:r>
            <a:r>
              <a:rPr lang="ka-GE" sz="2400" dirty="0">
                <a:latin typeface="Sylfaen" panose="010A0502050306030303" pitchFamily="18" charset="0"/>
              </a:rPr>
              <a:t>-ვე (გამოითქმის, როგორც-ვ)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X x</a:t>
            </a:r>
            <a:r>
              <a:rPr lang="ka-GE" sz="2400" dirty="0">
                <a:latin typeface="Sylfaen" panose="010A0502050306030303" pitchFamily="18" charset="0"/>
              </a:rPr>
              <a:t>-იქს </a:t>
            </a:r>
            <a:r>
              <a:rPr lang="ka-GE" sz="2400" dirty="0"/>
              <a:t>(გამოითქმის, როგორც-ქს)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Y y</a:t>
            </a:r>
            <a:r>
              <a:rPr lang="ka-GE" sz="2400" dirty="0">
                <a:latin typeface="Sylfaen" panose="010A0502050306030303" pitchFamily="18" charset="0"/>
              </a:rPr>
              <a:t>-იფსილონ </a:t>
            </a:r>
            <a:r>
              <a:rPr lang="ka-GE" sz="2400" dirty="0"/>
              <a:t>(გამოითქმის, როგორც-ი, ან </a:t>
            </a:r>
            <a:r>
              <a:rPr lang="de-DE" sz="2400" dirty="0">
                <a:latin typeface="Sylfaen" panose="010A0502050306030303" pitchFamily="18" charset="0"/>
              </a:rPr>
              <a:t>ü</a:t>
            </a:r>
            <a:r>
              <a:rPr lang="ka-GE" sz="2400" dirty="0">
                <a:latin typeface="Sylfaen" panose="010A0502050306030303" pitchFamily="18" charset="0"/>
              </a:rPr>
              <a:t>-უმლაუტი</a:t>
            </a:r>
            <a:r>
              <a:rPr lang="ka-GE" sz="2400" dirty="0"/>
              <a:t>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Z z</a:t>
            </a:r>
            <a:r>
              <a:rPr lang="ka-GE" sz="2400" dirty="0">
                <a:latin typeface="Sylfaen" panose="010A0502050306030303" pitchFamily="18" charset="0"/>
              </a:rPr>
              <a:t>-ცეტ </a:t>
            </a:r>
            <a:r>
              <a:rPr lang="ka-GE" sz="2400" dirty="0"/>
              <a:t>(გამოითქმის, როგორც-ც)</a:t>
            </a:r>
            <a:br>
              <a:rPr lang="ka-GE" sz="2400" dirty="0"/>
            </a:br>
            <a:br>
              <a:rPr lang="ka-GE" sz="2400" dirty="0"/>
            </a:br>
            <a:r>
              <a:rPr lang="ka-GE" sz="2400" dirty="0"/>
              <a:t>                                                                 </a:t>
            </a:r>
            <a:r>
              <a:rPr lang="ka-GE" sz="2400" b="1" i="1" dirty="0"/>
              <a:t>უმლაუტები</a:t>
            </a:r>
            <a:br>
              <a:rPr lang="ka-GE" sz="2400" dirty="0"/>
            </a:b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Ä ä</a:t>
            </a:r>
            <a:r>
              <a:rPr lang="ka-GE" sz="2400" dirty="0">
                <a:latin typeface="Sylfaen" panose="010A0502050306030303" pitchFamily="18" charset="0"/>
              </a:rPr>
              <a:t>-იკითხება, როგორვ ასო-ბგერა-ე</a:t>
            </a:r>
            <a:r>
              <a:rPr lang="de-DE" sz="2400" dirty="0">
                <a:latin typeface="Sylfaen" panose="010A0502050306030303" pitchFamily="18" charset="0"/>
              </a:rPr>
              <a:t> 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Ö ö 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Ü ü</a:t>
            </a:r>
            <a:endParaRPr lang="en-US" sz="2400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428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7EDB-A5EE-465E-B21D-7656C3FEB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19" y="2314135"/>
            <a:ext cx="11366695" cy="2461846"/>
          </a:xfrm>
        </p:spPr>
        <p:txBody>
          <a:bodyPr>
            <a:normAutofit fontScale="90000"/>
          </a:bodyPr>
          <a:lstStyle/>
          <a:p>
            <a:r>
              <a:rPr lang="de-DE" sz="2400" b="1" i="1" dirty="0"/>
              <a:t>                                                                    </a:t>
            </a:r>
            <a:r>
              <a:rPr lang="ka-GE" sz="2400" b="1" i="1" dirty="0"/>
              <a:t>დიფტონგი</a:t>
            </a:r>
            <a:br>
              <a:rPr lang="ka-GE" sz="2400" b="1" i="1" dirty="0"/>
            </a:br>
            <a:br>
              <a:rPr lang="de-DE" sz="2400" b="1" i="1" dirty="0"/>
            </a:br>
            <a:r>
              <a:rPr lang="ka-GE" sz="2000" dirty="0">
                <a:latin typeface="Sylfaen" panose="010A0502050306030303" pitchFamily="18" charset="0"/>
              </a:rPr>
              <a:t>დიფტონგი არის ხმოვან ასო-ბგერათა შენაერთი, რომრლიც იწერება და იკითხება განსხვავებულად. გერმანულ ენაში გვაქვს სამი დიფტონგი. ესენია:</a:t>
            </a:r>
            <a:br>
              <a:rPr lang="ka-GE" sz="2400" b="1" i="1" dirty="0"/>
            </a:br>
            <a:br>
              <a:rPr lang="de-DE" sz="2400" b="1" i="1" dirty="0"/>
            </a:br>
            <a:r>
              <a:rPr lang="de-DE" sz="2400" dirty="0">
                <a:latin typeface="Sylfaen" panose="010A0502050306030303" pitchFamily="18" charset="0"/>
              </a:rPr>
              <a:t>ei</a:t>
            </a:r>
            <a:r>
              <a:rPr lang="ka-GE" sz="2400" dirty="0">
                <a:latin typeface="Sylfaen" panose="010A0502050306030303" pitchFamily="18" charset="0"/>
              </a:rPr>
              <a:t>-იკითხება-აი (</a:t>
            </a:r>
            <a:r>
              <a:rPr lang="de-DE" sz="2400" dirty="0">
                <a:latin typeface="Sylfaen" panose="010A0502050306030303" pitchFamily="18" charset="0"/>
              </a:rPr>
              <a:t>ai</a:t>
            </a:r>
            <a:r>
              <a:rPr lang="ka-GE" sz="2400" dirty="0">
                <a:latin typeface="Sylfaen" panose="010A0502050306030303" pitchFamily="18" charset="0"/>
              </a:rPr>
              <a:t>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ie</a:t>
            </a:r>
            <a:r>
              <a:rPr lang="ka-GE" sz="2400" dirty="0">
                <a:latin typeface="Sylfaen" panose="010A0502050306030303" pitchFamily="18" charset="0"/>
              </a:rPr>
              <a:t>-იკითხება, როგორც გრძელი „ი“ („</a:t>
            </a:r>
            <a:r>
              <a:rPr lang="de-DE" sz="2400" dirty="0">
                <a:latin typeface="Sylfaen" panose="010A0502050306030303" pitchFamily="18" charset="0"/>
              </a:rPr>
              <a:t>i</a:t>
            </a:r>
            <a:r>
              <a:rPr lang="ka-GE" sz="2400" dirty="0">
                <a:latin typeface="Sylfaen" panose="010A0502050306030303" pitchFamily="18" charset="0"/>
              </a:rPr>
              <a:t>“)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eu</a:t>
            </a:r>
            <a:r>
              <a:rPr lang="ka-GE" sz="2400" dirty="0">
                <a:latin typeface="Sylfaen" panose="010A0502050306030303" pitchFamily="18" charset="0"/>
              </a:rPr>
              <a:t>-იკითხება-ოი (</a:t>
            </a:r>
            <a:r>
              <a:rPr lang="de-DE" sz="2400" dirty="0">
                <a:latin typeface="Sylfaen" panose="010A0502050306030303" pitchFamily="18" charset="0"/>
              </a:rPr>
              <a:t>oi</a:t>
            </a:r>
            <a:r>
              <a:rPr lang="ka-GE" sz="2400" dirty="0">
                <a:latin typeface="Sylfaen" panose="010A0502050306030303" pitchFamily="18" charset="0"/>
              </a:rPr>
              <a:t>)</a:t>
            </a:r>
            <a:br>
              <a:rPr lang="ka-GE" sz="2400" dirty="0">
                <a:latin typeface="Sylfaen" panose="010A0502050306030303" pitchFamily="18" charset="0"/>
              </a:rPr>
            </a:br>
            <a:br>
              <a:rPr lang="ka-GE" sz="2400" dirty="0">
                <a:latin typeface="Sylfaen" panose="010A0502050306030303" pitchFamily="18" charset="0"/>
              </a:rPr>
            </a:br>
            <a:r>
              <a:rPr lang="ka-GE" sz="2400" dirty="0">
                <a:latin typeface="Sylfaen" panose="010A0502050306030303" pitchFamily="18" charset="0"/>
              </a:rPr>
              <a:t>                                                      </a:t>
            </a:r>
            <a:r>
              <a:rPr lang="ka-GE" sz="2700" b="1" i="1" dirty="0">
                <a:latin typeface="Sylfaen" panose="010A0502050306030303" pitchFamily="18" charset="0"/>
              </a:rPr>
              <a:t>ასოთ-შენაერთები</a:t>
            </a:r>
            <a:br>
              <a:rPr lang="ka-GE" sz="2700" b="1" i="1" dirty="0">
                <a:latin typeface="Sylfaen" panose="010A0502050306030303" pitchFamily="18" charset="0"/>
              </a:rPr>
            </a:br>
            <a:br>
              <a:rPr lang="ka-GE" sz="2700" b="1" i="1" dirty="0">
                <a:latin typeface="Sylfaen" panose="010A0502050306030303" pitchFamily="18" charset="0"/>
              </a:rPr>
            </a:br>
            <a:r>
              <a:rPr lang="ka-GE" sz="2000" dirty="0">
                <a:latin typeface="Sylfaen" panose="010A0502050306030303" pitchFamily="18" charset="0"/>
              </a:rPr>
              <a:t>გერმანულ ენაში ხშირად გვხვდება ასოთ-შენაერთები, </a:t>
            </a:r>
            <a:r>
              <a:rPr lang="ka-GE" sz="2000" dirty="0"/>
              <a:t>რომლებიც იწერება და იკითხება განსხვავებულად. მაგალითად ესენია:</a:t>
            </a:r>
            <a:br>
              <a:rPr lang="ka-GE" sz="2000" dirty="0"/>
            </a:br>
            <a:br>
              <a:rPr lang="ka-G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sch-</a:t>
            </a:r>
            <a:r>
              <a:rPr lang="ka-GE" sz="2400" dirty="0">
                <a:latin typeface="Sylfaen" panose="010A0502050306030303" pitchFamily="18" charset="0"/>
              </a:rPr>
              <a:t>შ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ch-</a:t>
            </a:r>
            <a:r>
              <a:rPr lang="ka-GE" sz="2400" dirty="0">
                <a:latin typeface="Sylfaen" panose="010A0502050306030303" pitchFamily="18" charset="0"/>
              </a:rPr>
              <a:t>ხ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st-</a:t>
            </a:r>
            <a:r>
              <a:rPr lang="ka-GE" sz="2400" dirty="0">
                <a:latin typeface="Sylfaen" panose="010A0502050306030303" pitchFamily="18" charset="0"/>
              </a:rPr>
              <a:t>შთ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sp-</a:t>
            </a:r>
            <a:r>
              <a:rPr lang="ka-GE" sz="2400" dirty="0">
                <a:latin typeface="Sylfaen" panose="010A0502050306030303" pitchFamily="18" charset="0"/>
              </a:rPr>
              <a:t>შფ</a:t>
            </a:r>
            <a:br>
              <a:rPr lang="de-DE" sz="2400" dirty="0">
                <a:latin typeface="Sylfaen" panose="010A0502050306030303" pitchFamily="18" charset="0"/>
              </a:rPr>
            </a:br>
            <a:r>
              <a:rPr lang="de-DE" sz="2400" dirty="0">
                <a:latin typeface="Sylfaen" panose="010A0502050306030303" pitchFamily="18" charset="0"/>
              </a:rPr>
              <a:t>ck-</a:t>
            </a:r>
            <a:r>
              <a:rPr lang="ka-GE" sz="2400" dirty="0">
                <a:latin typeface="Sylfaen" panose="010A0502050306030303" pitchFamily="18" charset="0"/>
              </a:rPr>
              <a:t>კ</a:t>
            </a:r>
            <a:br>
              <a:rPr lang="ka-GE" sz="2400" dirty="0">
                <a:latin typeface="Sylfaen" panose="010A0502050306030303" pitchFamily="18" charset="0"/>
              </a:rPr>
            </a:br>
            <a:r>
              <a:rPr lang="ka-GE" sz="2400" dirty="0">
                <a:latin typeface="Sylfaen" panose="010A0502050306030303" pitchFamily="18" charset="0"/>
              </a:rPr>
              <a:t>გერმანულ ენაში, ასევე გვხვდება ასო-ბგერა </a:t>
            </a:r>
            <a:r>
              <a:rPr lang="de-DE" sz="2400" dirty="0">
                <a:latin typeface="Sylfaen" panose="010A0502050306030303" pitchFamily="18" charset="0"/>
              </a:rPr>
              <a:t>ß</a:t>
            </a:r>
            <a:r>
              <a:rPr lang="ka-GE" sz="2400" dirty="0">
                <a:latin typeface="Sylfaen" panose="010A0502050306030303" pitchFamily="18" charset="0"/>
              </a:rPr>
              <a:t> (</a:t>
            </a:r>
            <a:r>
              <a:rPr lang="ka-GE" sz="2400" i="1" dirty="0">
                <a:latin typeface="Sylfaen" panose="010A0502050306030303" pitchFamily="18" charset="0"/>
              </a:rPr>
              <a:t>ესცეტი</a:t>
            </a:r>
            <a:r>
              <a:rPr lang="ka-GE" sz="2400" dirty="0">
                <a:latin typeface="Sylfaen" panose="010A0502050306030303" pitchFamily="18" charset="0"/>
              </a:rPr>
              <a:t>),რომელიც იკითხება როგორც „ს“</a:t>
            </a:r>
            <a:br>
              <a:rPr lang="de-DE" sz="2400" dirty="0">
                <a:latin typeface="Sylfaen" panose="010A0502050306030303" pitchFamily="18" charset="0"/>
              </a:rPr>
            </a:br>
            <a:br>
              <a:rPr lang="ka-GE" sz="2400" dirty="0">
                <a:latin typeface="Sylfaen" panose="010A0502050306030303" pitchFamily="18" charset="0"/>
              </a:rPr>
            </a:br>
            <a:endParaRPr lang="en-US" sz="2400" b="1" i="1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5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CE10-B18C-48A4-947A-5BFF3FAF0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927" y="292370"/>
            <a:ext cx="10283483" cy="762708"/>
          </a:xfrm>
        </p:spPr>
        <p:txBody>
          <a:bodyPr>
            <a:normAutofit/>
          </a:bodyPr>
          <a:lstStyle/>
          <a:p>
            <a:r>
              <a:rPr lang="ka-GE" sz="2800" b="1" dirty="0">
                <a:latin typeface="Sylfaen" panose="010A0502050306030303" pitchFamily="18" charset="0"/>
              </a:rPr>
              <a:t>გრამატიკული სქესი</a:t>
            </a:r>
            <a:endParaRPr lang="en-US" sz="2800" b="1" dirty="0">
              <a:latin typeface="Sylfaen" panose="010A050205030603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F984D-E768-4C1A-8F20-E57852371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151" y="1350499"/>
            <a:ext cx="11690251" cy="5215132"/>
          </a:xfrm>
        </p:spPr>
        <p:txBody>
          <a:bodyPr>
            <a:normAutofit/>
          </a:bodyPr>
          <a:lstStyle/>
          <a:p>
            <a:r>
              <a:rPr lang="ka-GE" sz="2000" dirty="0">
                <a:latin typeface="Sylfaen" panose="010A0502050306030303" pitchFamily="18" charset="0"/>
              </a:rPr>
              <a:t>გრამატიკული რიცხვი</a:t>
            </a:r>
          </a:p>
          <a:p>
            <a:pPr algn="l"/>
            <a:r>
              <a:rPr lang="de-DE" sz="2000" dirty="0">
                <a:latin typeface="Sylfaen" panose="010A0502050306030303" pitchFamily="18" charset="0"/>
              </a:rPr>
              <a:t>                                           </a:t>
            </a:r>
            <a:r>
              <a:rPr lang="ka-GE" sz="2000" dirty="0">
                <a:latin typeface="Sylfaen" panose="010A0502050306030303" pitchFamily="18" charset="0"/>
              </a:rPr>
              <a:t>მხოლობითი რიცხვი                                                   მრავლობითი რიცხვი</a:t>
            </a:r>
          </a:p>
          <a:p>
            <a:pPr algn="l"/>
            <a:endParaRPr lang="ka-GE" sz="2000" dirty="0">
              <a:latin typeface="Sylfaen" panose="010A0502050306030303" pitchFamily="18" charset="0"/>
            </a:endParaRPr>
          </a:p>
          <a:p>
            <a:pPr algn="l"/>
            <a:r>
              <a:rPr lang="ka-GE" sz="2000" dirty="0">
                <a:latin typeface="Sylfaen" panose="010A0502050306030303" pitchFamily="18" charset="0"/>
              </a:rPr>
              <a:t>                                              გრამატიკული სქესი</a:t>
            </a:r>
          </a:p>
          <a:p>
            <a:endParaRPr lang="ka-GE" sz="2000" dirty="0">
              <a:latin typeface="Sylfaen" panose="010A0502050306030303" pitchFamily="18" charset="0"/>
            </a:endParaRPr>
          </a:p>
          <a:p>
            <a:pPr algn="l"/>
            <a:r>
              <a:rPr lang="ka-GE" sz="2000" dirty="0">
                <a:latin typeface="Sylfaen" panose="010A0502050306030303" pitchFamily="18" charset="0"/>
              </a:rPr>
              <a:t>მამრობითი სქესი     საშუალო სქესი   მდედრობითი სქესი</a:t>
            </a:r>
            <a:endParaRPr lang="de-DE" sz="2000" dirty="0">
              <a:latin typeface="Sylfaen" panose="010A0502050306030303" pitchFamily="18" charset="0"/>
            </a:endParaRPr>
          </a:p>
          <a:p>
            <a:pPr algn="l"/>
            <a:r>
              <a:rPr lang="en-US" sz="2000" dirty="0">
                <a:latin typeface="Sylfaen" panose="010A0502050306030303" pitchFamily="18" charset="0"/>
              </a:rPr>
              <a:t>      </a:t>
            </a:r>
            <a:r>
              <a:rPr lang="en-US" sz="2000" dirty="0" err="1">
                <a:latin typeface="Sylfaen" panose="010A0502050306030303" pitchFamily="18" charset="0"/>
              </a:rPr>
              <a:t>Maskulin</a:t>
            </a:r>
            <a:r>
              <a:rPr lang="en-US" sz="2000" dirty="0">
                <a:latin typeface="Sylfaen" panose="010A0502050306030303" pitchFamily="18" charset="0"/>
              </a:rPr>
              <a:t>                     Neutral                     </a:t>
            </a:r>
            <a:r>
              <a:rPr lang="en-US" sz="2000" dirty="0" err="1">
                <a:latin typeface="Sylfaen" panose="010A0502050306030303" pitchFamily="18" charset="0"/>
              </a:rPr>
              <a:t>Feminin</a:t>
            </a:r>
            <a:endParaRPr lang="en-US" sz="2000" dirty="0">
              <a:latin typeface="Sylfaen" panose="010A0502050306030303" pitchFamily="18" charset="0"/>
            </a:endParaRPr>
          </a:p>
          <a:p>
            <a:pPr algn="l"/>
            <a:endParaRPr lang="en-US" sz="2000" dirty="0">
              <a:latin typeface="Sylfaen" panose="010A0502050306030303" pitchFamily="18" charset="0"/>
            </a:endParaRPr>
          </a:p>
          <a:p>
            <a:pPr algn="l"/>
            <a:r>
              <a:rPr lang="de-DE" sz="2000" dirty="0">
                <a:latin typeface="Sylfaen" panose="010A0502050306030303" pitchFamily="18" charset="0"/>
              </a:rPr>
              <a:t>                                         </a:t>
            </a:r>
            <a:r>
              <a:rPr lang="ka-GE" sz="2000" dirty="0">
                <a:latin typeface="Sylfaen" panose="010A0502050306030303" pitchFamily="18" charset="0"/>
              </a:rPr>
              <a:t>განსაზღვრული არტიკლი</a:t>
            </a:r>
          </a:p>
          <a:p>
            <a:pPr algn="l"/>
            <a:r>
              <a:rPr lang="de-DE" sz="2000" dirty="0">
                <a:latin typeface="Sylfaen" panose="010A0502050306030303" pitchFamily="18" charset="0"/>
              </a:rPr>
              <a:t>        Der                               Das                        Die                                                                      Die</a:t>
            </a:r>
            <a:endParaRPr lang="ka-GE" sz="2000" dirty="0">
              <a:latin typeface="Sylfaen" panose="010A0502050306030303" pitchFamily="18" charset="0"/>
            </a:endParaRPr>
          </a:p>
          <a:p>
            <a:pPr algn="l"/>
            <a:r>
              <a:rPr lang="de-DE" sz="2000" dirty="0">
                <a:latin typeface="Sylfaen" panose="010A0502050306030303" pitchFamily="18" charset="0"/>
              </a:rPr>
              <a:t>                                        </a:t>
            </a:r>
            <a:r>
              <a:rPr lang="ka-GE" sz="2000" dirty="0">
                <a:latin typeface="Sylfaen" panose="010A0502050306030303" pitchFamily="18" charset="0"/>
              </a:rPr>
              <a:t>განუსაზღრველი არტიკლი</a:t>
            </a:r>
            <a:endParaRPr lang="de-DE" sz="2000" dirty="0">
              <a:latin typeface="Sylfaen" panose="010A0502050306030303" pitchFamily="18" charset="0"/>
            </a:endParaRPr>
          </a:p>
          <a:p>
            <a:pPr algn="l"/>
            <a:r>
              <a:rPr lang="de-DE" sz="2000" dirty="0">
                <a:latin typeface="Sylfaen" panose="010A0502050306030303" pitchFamily="18" charset="0"/>
              </a:rPr>
              <a:t>       Ein                                Ein                         Eine                                                                ---------</a:t>
            </a:r>
            <a:endParaRPr lang="en-US" sz="2000" dirty="0">
              <a:latin typeface="Sylfaen" panose="010A0502050306030303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D79721-E94A-4174-9D51-F7DFEF2FDF15}"/>
              </a:ext>
            </a:extLst>
          </p:cNvPr>
          <p:cNvCxnSpPr/>
          <p:nvPr/>
        </p:nvCxnSpPr>
        <p:spPr>
          <a:xfrm flipH="1">
            <a:off x="1645919" y="2771335"/>
            <a:ext cx="2067952" cy="478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7E7883D-8A9F-45D6-9A47-92EA32BEBF98}"/>
              </a:ext>
            </a:extLst>
          </p:cNvPr>
          <p:cNvCxnSpPr/>
          <p:nvPr/>
        </p:nvCxnSpPr>
        <p:spPr>
          <a:xfrm>
            <a:off x="4051495" y="2841674"/>
            <a:ext cx="0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77806B-CD8D-4AC0-A9F1-E11E30961563}"/>
              </a:ext>
            </a:extLst>
          </p:cNvPr>
          <p:cNvCxnSpPr/>
          <p:nvPr/>
        </p:nvCxnSpPr>
        <p:spPr>
          <a:xfrm>
            <a:off x="4051495" y="2841674"/>
            <a:ext cx="2044505" cy="40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61B3C2-3A33-4A30-98FD-7826FFD4526F}"/>
              </a:ext>
            </a:extLst>
          </p:cNvPr>
          <p:cNvCxnSpPr/>
          <p:nvPr/>
        </p:nvCxnSpPr>
        <p:spPr>
          <a:xfrm>
            <a:off x="1041009" y="4037428"/>
            <a:ext cx="0" cy="82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2E7288-B00C-45EA-ABEC-974A00158552}"/>
              </a:ext>
            </a:extLst>
          </p:cNvPr>
          <p:cNvCxnSpPr/>
          <p:nvPr/>
        </p:nvCxnSpPr>
        <p:spPr>
          <a:xfrm>
            <a:off x="3418449" y="4037428"/>
            <a:ext cx="0" cy="45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1125DC-897A-4320-9DFE-DB0E119EBC31}"/>
              </a:ext>
            </a:extLst>
          </p:cNvPr>
          <p:cNvCxnSpPr/>
          <p:nvPr/>
        </p:nvCxnSpPr>
        <p:spPr>
          <a:xfrm>
            <a:off x="5556738" y="4037428"/>
            <a:ext cx="0" cy="45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5FCBF3-5CF9-4285-B3CA-B92162EDF8CC}"/>
              </a:ext>
            </a:extLst>
          </p:cNvPr>
          <p:cNvCxnSpPr/>
          <p:nvPr/>
        </p:nvCxnSpPr>
        <p:spPr>
          <a:xfrm>
            <a:off x="9973994" y="2056936"/>
            <a:ext cx="0" cy="2571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40E6AC-A0D7-499A-8C18-DD31FD63FC93}"/>
              </a:ext>
            </a:extLst>
          </p:cNvPr>
          <p:cNvCxnSpPr/>
          <p:nvPr/>
        </p:nvCxnSpPr>
        <p:spPr>
          <a:xfrm>
            <a:off x="7596554" y="1716258"/>
            <a:ext cx="0" cy="45860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74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C2A15-44CA-4B9F-A9C0-6A69F1BD6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406400"/>
            <a:ext cx="10508566" cy="71901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Sylfaen" panose="010A0502050306030303" pitchFamily="18" charset="0"/>
              </a:rPr>
              <a:t>Start auf Deutsch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523CF-8E3E-41ED-8CFD-C48E5F32D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302" y="1125415"/>
            <a:ext cx="11493304" cy="532618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ka-GE" sz="2000" b="1" dirty="0">
                <a:latin typeface="Sylfaen" panose="010A0502050306030303" pitchFamily="18" charset="0"/>
              </a:rPr>
              <a:t>ლექსიკონი:</a:t>
            </a:r>
            <a:r>
              <a:rPr lang="de-DE" sz="2000" b="1" dirty="0">
                <a:latin typeface="Sylfaen" panose="010A0502050306030303" pitchFamily="18" charset="0"/>
              </a:rPr>
              <a:t>                                                     </a:t>
            </a:r>
            <a:r>
              <a:rPr lang="ka-GE" sz="2000" b="1" dirty="0">
                <a:latin typeface="Sylfaen" panose="010A0502050306030303" pitchFamily="18" charset="0"/>
              </a:rPr>
              <a:t>                                                                               მოსასმენი:    </a:t>
            </a:r>
            <a:r>
              <a:rPr lang="ka-GE" sz="2000" dirty="0">
                <a:latin typeface="Sylfaen" panose="010A0502050306030303" pitchFamily="18" charset="0"/>
              </a:rPr>
              <a:t>1.2 №3;</a:t>
            </a:r>
            <a:r>
              <a:rPr lang="de-DE" sz="2000" dirty="0">
                <a:latin typeface="Sylfaen" panose="010A0502050306030303" pitchFamily="18" charset="0"/>
              </a:rPr>
              <a:t>  </a:t>
            </a:r>
            <a:r>
              <a:rPr lang="ka-GE" sz="2000" dirty="0">
                <a:latin typeface="Sylfaen" panose="010A0502050306030303" pitchFamily="18" charset="0"/>
              </a:rPr>
              <a:t>გვ.12</a:t>
            </a:r>
            <a:r>
              <a:rPr lang="de-DE" sz="2000" dirty="0">
                <a:latin typeface="Sylfaen" panose="010A0502050306030303" pitchFamily="18" charset="0"/>
              </a:rPr>
              <a:t>                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Verstehen-</a:t>
            </a:r>
            <a:r>
              <a:rPr lang="ka-GE" sz="2000" dirty="0">
                <a:latin typeface="Sylfaen" panose="010A0502050306030303" pitchFamily="18" charset="0"/>
              </a:rPr>
              <a:t>გაგება                                                                                                                                        1.3 №4   გვ.12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Jemanden begrüßen-</a:t>
            </a:r>
            <a:r>
              <a:rPr lang="ka-GE" sz="2000" dirty="0">
                <a:latin typeface="Sylfaen" panose="010A0502050306030303" pitchFamily="18" charset="0"/>
              </a:rPr>
              <a:t>მისალმება                                                                                                                1.4 </a:t>
            </a:r>
            <a:r>
              <a:rPr lang="ka-GE" sz="2000" dirty="0"/>
              <a:t>№1   გვ.13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Sich und andere vorstellen- </a:t>
            </a:r>
            <a:r>
              <a:rPr lang="ka-GE" sz="2000" dirty="0">
                <a:latin typeface="Sylfaen" panose="010A0502050306030303" pitchFamily="18" charset="0"/>
              </a:rPr>
              <a:t>საკუთარი თავის და სხვისი წარდგენა</a:t>
            </a:r>
            <a:r>
              <a:rPr lang="de-DE" sz="2000" dirty="0">
                <a:latin typeface="Sylfaen" panose="010A0502050306030303" pitchFamily="18" charset="0"/>
              </a:rPr>
              <a:t> </a:t>
            </a:r>
            <a:r>
              <a:rPr lang="ka-GE" sz="2000" dirty="0">
                <a:latin typeface="Sylfaen" panose="010A0502050306030303" pitchFamily="18" charset="0"/>
              </a:rPr>
              <a:t>                                                  1.5 </a:t>
            </a:r>
            <a:r>
              <a:rPr lang="ka-GE" sz="2000" dirty="0"/>
              <a:t>№2  გვ.13</a:t>
            </a:r>
            <a:r>
              <a:rPr lang="de-DE" sz="2000" dirty="0">
                <a:latin typeface="Sylfaen" panose="010A0502050306030303" pitchFamily="18" charset="0"/>
              </a:rPr>
              <a:t>                                     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Nach Namen und Herkunft fragen-</a:t>
            </a:r>
            <a:r>
              <a:rPr lang="ka-GE" sz="2000" dirty="0">
                <a:latin typeface="Sylfaen" panose="010A0502050306030303" pitchFamily="18" charset="0"/>
              </a:rPr>
              <a:t>სახელის და წარმომავლობის შესახებ კითხვის დასმა</a:t>
            </a:r>
            <a:r>
              <a:rPr lang="de-DE" sz="2000" dirty="0">
                <a:latin typeface="Sylfaen" panose="010A0502050306030303" pitchFamily="18" charset="0"/>
              </a:rPr>
              <a:t>                                            1.6 </a:t>
            </a:r>
            <a:r>
              <a:rPr lang="ka-GE" sz="2000" dirty="0"/>
              <a:t>№</a:t>
            </a:r>
            <a:r>
              <a:rPr lang="de-DE" sz="2000" dirty="0"/>
              <a:t>5 </a:t>
            </a:r>
            <a:r>
              <a:rPr lang="ka-GE" sz="2000" dirty="0"/>
              <a:t>გვ.13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Buchstabieren-</a:t>
            </a:r>
            <a:r>
              <a:rPr lang="ka-GE" sz="2000" dirty="0">
                <a:latin typeface="Sylfaen" panose="010A0502050306030303" pitchFamily="18" charset="0"/>
              </a:rPr>
              <a:t>დამარცვლა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Wer kommt aus Deutschland?-</a:t>
            </a:r>
            <a:r>
              <a:rPr lang="ka-GE" sz="2000" dirty="0">
                <a:latin typeface="Sylfaen" panose="010A0502050306030303" pitchFamily="18" charset="0"/>
              </a:rPr>
              <a:t>ვინ არის გერმანიიდან?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Der Kurs-</a:t>
            </a:r>
            <a:r>
              <a:rPr lang="ka-GE" sz="2000" dirty="0">
                <a:latin typeface="Sylfaen" panose="010A0502050306030303" pitchFamily="18" charset="0"/>
              </a:rPr>
              <a:t>კურსი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Guten Tag-</a:t>
            </a:r>
            <a:r>
              <a:rPr lang="ka-GE" sz="2000" dirty="0">
                <a:latin typeface="Sylfaen" panose="010A0502050306030303" pitchFamily="18" charset="0"/>
              </a:rPr>
              <a:t>დღე მშვიდობისა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Ich bin-</a:t>
            </a:r>
            <a:r>
              <a:rPr lang="ka-GE" sz="2000" dirty="0">
                <a:latin typeface="Sylfaen" panose="010A0502050306030303" pitchFamily="18" charset="0"/>
              </a:rPr>
              <a:t>მე ვარ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Mein Name ist-</a:t>
            </a:r>
            <a:r>
              <a:rPr lang="ka-GE" sz="2000" dirty="0">
                <a:latin typeface="Sylfaen" panose="010A0502050306030303" pitchFamily="18" charset="0"/>
              </a:rPr>
              <a:t>ჩემი სახელია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Woher kommen Sie?-</a:t>
            </a:r>
            <a:r>
              <a:rPr lang="ka-GE" sz="2000" dirty="0">
                <a:latin typeface="Sylfaen" panose="010A0502050306030303" pitchFamily="18" charset="0"/>
              </a:rPr>
              <a:t>საიდან ხართ თქვენ?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Wie heißen Sie?-</a:t>
            </a:r>
            <a:r>
              <a:rPr lang="ka-GE" sz="2000" dirty="0">
                <a:latin typeface="Sylfaen" panose="010A0502050306030303" pitchFamily="18" charset="0"/>
              </a:rPr>
              <a:t>თქვენ რა გქვიათ?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Ich komme aus-</a:t>
            </a:r>
            <a:r>
              <a:rPr lang="ka-GE" sz="2000" dirty="0">
                <a:latin typeface="Sylfaen" panose="010A0502050306030303" pitchFamily="18" charset="0"/>
              </a:rPr>
              <a:t>მე წარმოშობით ვარ...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Wo wohnen Sie?-</a:t>
            </a:r>
            <a:r>
              <a:rPr lang="ka-GE" sz="2000" dirty="0">
                <a:latin typeface="Sylfaen" panose="010A0502050306030303" pitchFamily="18" charset="0"/>
              </a:rPr>
              <a:t>სად ცხოვრობთ თქვენ?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000" dirty="0">
                <a:latin typeface="Sylfaen" panose="010A0502050306030303" pitchFamily="18" charset="0"/>
              </a:rPr>
              <a:t>Ich wohne in Frankfurt-</a:t>
            </a:r>
            <a:r>
              <a:rPr lang="ka-GE" sz="2000" dirty="0">
                <a:latin typeface="Sylfaen" panose="010A0502050306030303" pitchFamily="18" charset="0"/>
              </a:rPr>
              <a:t>მე ვცხოვრობ ფრანკფურტში</a:t>
            </a: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ka-G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ka-GE" sz="2000" dirty="0">
              <a:latin typeface="Sylfaen" panose="010A050205030603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740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90C7-3D54-4ECC-A1AB-E9E1F04C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67" y="1691769"/>
            <a:ext cx="11859066" cy="2335871"/>
          </a:xfrm>
        </p:spPr>
        <p:txBody>
          <a:bodyPr>
            <a:noAutofit/>
          </a:bodyPr>
          <a:lstStyle/>
          <a:p>
            <a:r>
              <a:rPr lang="ka-GE" sz="2000" dirty="0">
                <a:latin typeface="Sylfaen" panose="010A0502050306030303" pitchFamily="18" charset="0"/>
              </a:rPr>
              <a:t>გვ.14 №6- შეუსაბამეთ ერთმანეთს                                                                   </a:t>
            </a:r>
            <a:r>
              <a:rPr lang="ka-GE" sz="2000" b="1" dirty="0">
                <a:latin typeface="Sylfaen" panose="010A0502050306030303" pitchFamily="18" charset="0"/>
              </a:rPr>
              <a:t>ლექსიკონი:</a:t>
            </a:r>
            <a:br>
              <a:rPr lang="ka-GE" sz="2000" b="1" dirty="0">
                <a:latin typeface="Sylfaen" panose="010A0502050306030303" pitchFamily="18" charset="0"/>
              </a:rPr>
            </a:br>
            <a:r>
              <a:rPr lang="ka-GE" sz="2000" dirty="0">
                <a:latin typeface="Sylfaen" panose="010A0502050306030303" pitchFamily="18" charset="0"/>
              </a:rPr>
              <a:t>გვ.14 №7-განავრცეთ</a:t>
            </a:r>
            <a:br>
              <a:rPr lang="ka-GE" sz="2000" dirty="0">
                <a:latin typeface="Sylfaen" panose="010A0502050306030303" pitchFamily="18" charset="0"/>
              </a:rPr>
            </a:br>
            <a:r>
              <a:rPr lang="ka-GE" sz="2000" dirty="0">
                <a:latin typeface="Sylfaen" panose="010A0502050306030303" pitchFamily="18" charset="0"/>
              </a:rPr>
              <a:t>გვ.14 №8-შეავსეთ                                                                  </a:t>
            </a:r>
            <a:r>
              <a:rPr lang="de-DE" sz="2000" dirty="0">
                <a:latin typeface="Sylfaen" panose="010A0502050306030303" pitchFamily="18" charset="0"/>
              </a:rPr>
              <a:t>Ordnen Sie zu</a:t>
            </a:r>
            <a:r>
              <a:rPr lang="ka-GE" sz="2000" dirty="0">
                <a:latin typeface="Sylfaen" panose="010A0502050306030303" pitchFamily="18" charset="0"/>
              </a:rPr>
              <a:t>-შეუსაბამეთ ერთმანეთს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ka-GE" sz="2000" dirty="0">
                <a:latin typeface="Sylfaen" panose="010A0502050306030303" pitchFamily="18" charset="0"/>
              </a:rPr>
              <a:t>გვ.15 №1-ანბანის რეპი. 1.7                                                  </a:t>
            </a:r>
            <a:r>
              <a:rPr lang="de-DE" sz="2000" dirty="0">
                <a:latin typeface="Sylfaen" panose="010A0502050306030303" pitchFamily="18" charset="0"/>
              </a:rPr>
              <a:t>Die Personalangaben</a:t>
            </a:r>
            <a:r>
              <a:rPr lang="ka-GE" sz="2000" dirty="0">
                <a:latin typeface="Sylfaen" panose="010A0502050306030303" pitchFamily="18" charset="0"/>
              </a:rPr>
              <a:t>-პერსონალური </a:t>
            </a:r>
            <a:r>
              <a:rPr lang="ka-GE" sz="2000" dirty="0"/>
              <a:t>მონაცემები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ka-GE" sz="2000" dirty="0">
                <a:latin typeface="Sylfaen" panose="010A0502050306030303" pitchFamily="18" charset="0"/>
              </a:rPr>
              <a:t>გვ.15 №2-ქალაქები გერმანულად. 1.8                               </a:t>
            </a:r>
            <a:r>
              <a:rPr lang="de-DE" sz="2000" dirty="0">
                <a:latin typeface="Sylfaen" panose="010A0502050306030303" pitchFamily="18" charset="0"/>
              </a:rPr>
              <a:t>Ergänzen Sie-</a:t>
            </a:r>
            <a:r>
              <a:rPr lang="ka-GE" sz="2000" dirty="0">
                <a:latin typeface="Sylfaen" panose="010A0502050306030303" pitchFamily="18" charset="0"/>
              </a:rPr>
              <a:t>განავრცეთ</a:t>
            </a:r>
            <a:br>
              <a:rPr lang="ka-GE" sz="2000" dirty="0">
                <a:latin typeface="Sylfaen" panose="010A0502050306030303" pitchFamily="18" charset="0"/>
              </a:rPr>
            </a:br>
            <a:r>
              <a:rPr lang="ka-GE" sz="2000" dirty="0">
                <a:latin typeface="Sylfaen" panose="010A0502050306030303" pitchFamily="18" charset="0"/>
              </a:rPr>
              <a:t>გვ.15 №3-                                                                                 </a:t>
            </a:r>
            <a:r>
              <a:rPr lang="de-DE" sz="2000" dirty="0">
                <a:latin typeface="Sylfaen" panose="010A0502050306030303" pitchFamily="18" charset="0"/>
              </a:rPr>
              <a:t>Notieren Sie-</a:t>
            </a:r>
            <a:r>
              <a:rPr lang="ka-GE" sz="2000" dirty="0">
                <a:latin typeface="Sylfaen" panose="010A0502050306030303" pitchFamily="18" charset="0"/>
              </a:rPr>
              <a:t>ჩაინიშნეთ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ka-GE" sz="2000" dirty="0">
                <a:latin typeface="Sylfaen" panose="010A0502050306030303" pitchFamily="18" charset="0"/>
              </a:rPr>
              <a:t>გვ.15 №4-შემოკლებები                                                        </a:t>
            </a:r>
            <a:r>
              <a:rPr lang="de-DE" sz="2000" dirty="0">
                <a:latin typeface="Sylfaen" panose="010A0502050306030303" pitchFamily="18" charset="0"/>
              </a:rPr>
              <a:t>Abkürzungen-</a:t>
            </a:r>
            <a:r>
              <a:rPr lang="ka-GE" sz="2000" dirty="0">
                <a:latin typeface="Sylfaen" panose="010A0502050306030303" pitchFamily="18" charset="0"/>
              </a:rPr>
              <a:t>შემოკლებები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ka-GE" sz="2000" dirty="0">
                <a:latin typeface="Sylfaen" panose="010A0502050306030303" pitchFamily="18" charset="0"/>
              </a:rPr>
              <a:t>გვ.15 №5-მოისმინეთ დიალოგი</a:t>
            </a:r>
            <a:r>
              <a:rPr lang="de-DE" sz="2000" dirty="0">
                <a:latin typeface="Sylfaen" panose="010A0502050306030303" pitchFamily="18" charset="0"/>
              </a:rPr>
              <a:t>               </a:t>
            </a:r>
            <a:r>
              <a:rPr lang="ka-GE" sz="2000" dirty="0">
                <a:latin typeface="Sylfaen" panose="010A0502050306030303" pitchFamily="18" charset="0"/>
              </a:rPr>
              <a:t>                          </a:t>
            </a:r>
            <a:r>
              <a:rPr lang="de-DE" sz="2000" dirty="0">
                <a:latin typeface="Sylfaen" panose="010A0502050306030303" pitchFamily="18" charset="0"/>
              </a:rPr>
              <a:t>Graz-</a:t>
            </a:r>
            <a:r>
              <a:rPr lang="ka-GE" sz="2000" dirty="0">
                <a:latin typeface="Sylfaen" panose="010A0502050306030303" pitchFamily="18" charset="0"/>
              </a:rPr>
              <a:t>გრაცი               </a:t>
            </a:r>
            <a:br>
              <a:rPr lang="ka-GE" sz="2000" dirty="0">
                <a:latin typeface="Sylfaen" panose="010A0502050306030303" pitchFamily="18" charset="0"/>
              </a:rPr>
            </a:br>
            <a:r>
              <a:rPr lang="ka-GE" sz="2000" dirty="0"/>
              <a:t>და ჩაინიშნეთ სახელები. </a:t>
            </a:r>
            <a:r>
              <a:rPr lang="ka-GE" sz="2000" dirty="0">
                <a:latin typeface="Sylfaen" panose="010A0502050306030303" pitchFamily="18" charset="0"/>
              </a:rPr>
              <a:t>მოსასმენი 1.9</a:t>
            </a:r>
            <a:r>
              <a:rPr lang="de-DE" sz="2000" dirty="0">
                <a:latin typeface="Sylfaen" panose="010A0502050306030303" pitchFamily="18" charset="0"/>
              </a:rPr>
              <a:t>                            Hamburg</a:t>
            </a:r>
            <a:r>
              <a:rPr lang="ka-GE" sz="2000" dirty="0">
                <a:latin typeface="Sylfaen" panose="010A0502050306030303" pitchFamily="18" charset="0"/>
              </a:rPr>
              <a:t>-ჰამბურგი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de-DE" sz="2000" dirty="0">
                <a:latin typeface="Sylfaen" panose="010A0502050306030303" pitchFamily="18" charset="0"/>
              </a:rPr>
              <a:t>                                                                                                   Bern</a:t>
            </a:r>
            <a:r>
              <a:rPr lang="ka-GE" sz="2000" dirty="0">
                <a:latin typeface="Sylfaen" panose="010A0502050306030303" pitchFamily="18" charset="0"/>
              </a:rPr>
              <a:t>-ბერნი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de-DE" sz="2000" dirty="0">
                <a:latin typeface="Sylfaen" panose="010A0502050306030303" pitchFamily="18" charset="0"/>
              </a:rPr>
              <a:t>                                                                                                   Berlin</a:t>
            </a:r>
            <a:r>
              <a:rPr lang="ka-GE" sz="2000" dirty="0">
                <a:latin typeface="Sylfaen" panose="010A0502050306030303" pitchFamily="18" charset="0"/>
              </a:rPr>
              <a:t>-ბერლინი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de-DE" sz="2000" dirty="0">
                <a:latin typeface="Sylfaen" panose="010A0502050306030303" pitchFamily="18" charset="0"/>
              </a:rPr>
              <a:t>                                                                                                   Frankfurt</a:t>
            </a:r>
            <a:r>
              <a:rPr lang="ka-GE" sz="2000" dirty="0">
                <a:latin typeface="Sylfaen" panose="010A0502050306030303" pitchFamily="18" charset="0"/>
              </a:rPr>
              <a:t>-ფრანკფურტი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de-DE" sz="2000" dirty="0">
                <a:latin typeface="Sylfaen" panose="010A0502050306030303" pitchFamily="18" charset="0"/>
              </a:rPr>
              <a:t>                                                                                                   Wien</a:t>
            </a:r>
            <a:r>
              <a:rPr lang="ka-GE" sz="2000" dirty="0">
                <a:latin typeface="Sylfaen" panose="010A0502050306030303" pitchFamily="18" charset="0"/>
              </a:rPr>
              <a:t>-ვენა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de-DE" sz="2000" dirty="0">
                <a:latin typeface="Sylfaen" panose="010A0502050306030303" pitchFamily="18" charset="0"/>
              </a:rPr>
              <a:t>                                                                                                    Genf</a:t>
            </a:r>
            <a:r>
              <a:rPr lang="ka-GE" sz="2000" dirty="0">
                <a:latin typeface="Sylfaen" panose="010A0502050306030303" pitchFamily="18" charset="0"/>
              </a:rPr>
              <a:t>-ჟენევა</a:t>
            </a:r>
            <a:br>
              <a:rPr lang="de-DE" sz="2000" dirty="0">
                <a:latin typeface="Sylfaen" panose="010A0502050306030303" pitchFamily="18" charset="0"/>
              </a:rPr>
            </a:br>
            <a:r>
              <a:rPr lang="de-DE" sz="2000" dirty="0">
                <a:latin typeface="Sylfaen" panose="010A0502050306030303" pitchFamily="18" charset="0"/>
              </a:rPr>
              <a:t>                                                                                                    Lugano</a:t>
            </a:r>
            <a:r>
              <a:rPr lang="ka-GE" sz="2000" dirty="0">
                <a:latin typeface="Sylfaen" panose="010A0502050306030303" pitchFamily="18" charset="0"/>
              </a:rPr>
              <a:t>-ლუგანო</a:t>
            </a:r>
            <a:br>
              <a:rPr lang="de-DE" sz="2000" dirty="0">
                <a:latin typeface="Sylfaen" panose="010A0502050306030303" pitchFamily="18" charset="0"/>
              </a:rPr>
            </a:br>
            <a:endParaRPr lang="en-US" sz="2000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32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BA61-126A-4C54-A3BE-0AE925FE6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313" y="2615956"/>
            <a:ext cx="10515600" cy="1325563"/>
          </a:xfrm>
        </p:spPr>
        <p:txBody>
          <a:bodyPr/>
          <a:lstStyle/>
          <a:p>
            <a:r>
              <a:rPr lang="de-DE" b="1" dirty="0">
                <a:latin typeface="Sylfaen" panose="010A0502050306030303" pitchFamily="18" charset="0"/>
              </a:rPr>
              <a:t>Vielen Dank die Aufmerksamkeit!</a:t>
            </a:r>
            <a:endParaRPr lang="en-US" b="1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87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259</TotalTime>
  <Words>931</Words>
  <Application>Microsoft Office PowerPoint</Application>
  <PresentationFormat>Widescreen</PresentationFormat>
  <Paragraphs>74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Sylfaen</vt:lpstr>
      <vt:lpstr>Office Theme</vt:lpstr>
      <vt:lpstr>Willkommen zur Deutschstunde</vt:lpstr>
      <vt:lpstr>გემანული ენა-ცხოვრების ახლებური ხედვა</vt:lpstr>
      <vt:lpstr>გერმანია (მეზობლები, ისტორია)</vt:lpstr>
      <vt:lpstr>PowerPoint Presentation</vt:lpstr>
      <vt:lpstr>სახელმძღვანელო  გეგმა: </vt:lpstr>
      <vt:lpstr>Das Alphabet ანბანი</vt:lpstr>
      <vt:lpstr>N n-ენ O o-ო P p-ფე Q q-ქუ R r-ერ (უმეტესად გამოთქვამენ, როგორც-ღ, ასევე იკითხება-რ) S s-ეს  (სიტყვის დასაწყისში გამოითქმის-ზ, შუაში ან ბოლოში-ს. არის გამონაკლისებიც) T t-თე (უმეტესად გამოთქვამენ, როგორც-თ, ასევე იკითხება-ტ) U u-უ V v-fაუ (უმეტესად გამოთქვამენ, როგორც-f, ასევე იკითხება-ვ) W w-ვე (გამოითქმის, როგორც-ვ) X x-იქს (გამოითქმის, როგორც-ქს) Y y-იფსილონ (გამოითქმის, როგორც-ი, ან ü-უმლაუტი) Z z-ცეტ (გამოითქმის, როგორც-ც)                                                                   უმლაუტები  Ä ä-იკითხება, როგორვ ასო-ბგერა-ე  Ö ö  Ü ü</vt:lpstr>
      <vt:lpstr>                                                                    დიფტონგი  დიფტონგი არის ხმოვან ასო-ბგერათა შენაერთი, რომრლიც იწერება და იკითხება განსხვავებულად. გერმანულ ენაში გვაქვს სამი დიფტონგი. ესენია:  ei-იკითხება-აი (ai) ie-იკითხება, როგორც გრძელი „ი“ („i“) eu-იკითხება-ოი (oi)                                                        ასოთ-შენაერთები  გერმანულ ენაში ხშირად გვხვდება ასოთ-შენაერთები, რომლებიც იწერება და იკითხება განსხვავებულად. მაგალითად ესენია:  sch-შ ch-ხ st-შთ sp-შფ ck-კ გერმანულ ენაში, ასევე გვხვდება ასო-ბგერა ß (ესცეტი),რომელიც იკითხება როგორც „ს“  </vt:lpstr>
      <vt:lpstr>გრამატიკული სქესი</vt:lpstr>
      <vt:lpstr>Start auf Deutsch</vt:lpstr>
      <vt:lpstr>გვ.14 №6- შეუსაბამეთ ერთმანეთს                                                                   ლექსიკონი: გვ.14 №7-განავრცეთ გვ.14 №8-შეავსეთ                                                                  Ordnen Sie zu-შეუსაბამეთ ერთმანეთს გვ.15 №1-ანბანის რეპი. 1.7                                                  Die Personalangaben-პერსონალური მონაცემები გვ.15 №2-ქალაქები გერმანულად. 1.8                               Ergänzen Sie-განავრცეთ გვ.15 №3-                                                                                 Notieren Sie-ჩაინიშნეთ გვ.15 №4-შემოკლებები                                                        Abkürzungen-შემოკლებები გვ.15 №5-მოისმინეთ დიალოგი                                         Graz-გრაცი                და ჩაინიშნეთ სახელები. მოსასმენი 1.9                            Hamburg-ჰამბურგი                                                                                                    Bern-ბერნი                                                                                                    Berlin-ბერლინი                                                                                                    Frankfurt-ფრანკფურტი                                                                                                    Wien-ვენა                                                                                                     Genf-ჟენევა                                                                                                     Lugano-ლუგანო </vt:lpstr>
      <vt:lpstr>Vielen Dank die Aufmerksamkeit!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 zur Deutschstunde</dc:title>
  <dc:creator>ASUS</dc:creator>
  <cp:lastModifiedBy>ASUS</cp:lastModifiedBy>
  <cp:revision>2</cp:revision>
  <dcterms:created xsi:type="dcterms:W3CDTF">2026-01-17T15:24:09Z</dcterms:created>
  <dcterms:modified xsi:type="dcterms:W3CDTF">2026-01-18T18:51:14Z</dcterms:modified>
</cp:coreProperties>
</file>